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0EA"/>
    <a:srgbClr val="016367"/>
    <a:srgbClr val="008080"/>
    <a:srgbClr val="578384"/>
    <a:srgbClr val="019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1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AE8A-3DF5-417F-83A7-335E0B19E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C6E6-EF1B-4E33-B078-0F20A18E2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79164-7D5D-4B40-A854-29CEDFD8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D336-0C65-47D1-ADBC-FC7B7CEC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AB81-3577-4E04-997B-9ECDACBF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0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F663-3452-4D5A-8F95-212ED8300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6ACC-F9A9-42A6-B50F-EF1FDE908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F55E8-8AAB-4C4B-A679-79FC0D54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4B69D-7C1A-4078-BE59-BA4448A0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E5F9B-3D16-47A3-8CA1-90767576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27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1AA2-B722-47E3-9763-857E7A7F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B0708-995B-4AE0-9BBF-A3DCD59F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8D891-4387-4B7E-B3E7-EC7E2F73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9A024-4BA6-4C3E-B8FC-DBF7F468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D0028-94C8-4014-9992-9ACFDB18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40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C12E-5B65-40E8-91FE-3088E537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94FB0-CA6F-4EB9-AF3C-6C83C1FB0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FF82D-6F20-4A57-868E-E667A1508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9B344-F72C-4EFE-97C3-3462A668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99E22-DB89-4493-8603-E19A527D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014EB-3842-4ECF-B51E-53E14973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EA2A-7FD6-42A1-A77E-D2D06519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4BA41-1452-4830-9331-832F597A1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15105-0872-4F3B-B0DC-B0393F8B7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B3BA5-A8C6-47AE-A5FF-7BA74BA11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1AA2C-E80D-4497-929F-014FB71803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7EB98-19FF-4CB5-B5C6-7CEFF457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86A9E-6D95-4D07-A33A-445CC8A9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A0FDC-DBDC-4282-8FD3-DA6C43C7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50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E86C-0EC9-477C-8202-92544E82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41EAC-1EA5-4B63-99E4-DDCCA8D8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5AA56-42E5-4551-B270-A3228E14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4C2E9-A35D-4900-865A-471AB6D8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73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FB51D-30E8-4CC3-9C7C-13BF6D53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17967-3B1A-4235-82BE-7D5E2F87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95F5A-8BE4-4C65-9F9D-FC2C65A4D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05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66AD-F0A1-41C8-80F6-C2340725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5F08-A616-4D5C-BC28-34CCB09E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956A9-D852-4B0F-AC56-A87484DFD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B704F-1030-44EB-8217-E8A701EB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408E9-38E6-4876-9440-F414FFA3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48D13-ACF8-4A54-916F-D6548E91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87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1CC7-6BDE-4C94-9723-7940EDAA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A0868-83A1-4059-915A-E1618A92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1ED47-CBD7-49A6-A559-CBE0C1D25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28E98-BCC0-437F-9197-52EA81B0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11A0F-28AF-4E3C-BD03-5B6449C5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6B781-4603-435F-A5B3-C19B8004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72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1378-FC36-40D5-848C-89D72D2B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754D8-2DCC-43F0-91A5-1B752EF92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3B359-271C-426B-B86F-11678EA3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358A2-9AE9-41C1-9CE5-E6933BCF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5880C-48F0-46AF-A3C8-DD2EFBCB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9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A4287-D56B-4D41-B448-267D4069C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EEA11-1488-4DEE-81AF-C5880F57C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EAE9C-83DF-48CA-8311-CB19E11F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D9A4F-24AC-48A4-A36C-1A1A6939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60F33-79D3-48D3-904B-4F228C2E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47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2F434-BDB5-4630-B943-CCDD0DEF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4F3D1-1D21-4507-89C4-5107B22A5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C39D-2BAD-467D-89CD-67A20F05D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F380-2141-45DA-97D8-41269DA2C8EE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FAAC7-1492-4DD0-AEAD-3E026E05E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24CC5-E57A-4E09-90F0-0D288089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0A8A7-24CA-4CA8-BB8E-6D74F07816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65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C074AD-157E-4CE1-B2D3-F428F22C3A06}"/>
              </a:ext>
            </a:extLst>
          </p:cNvPr>
          <p:cNvSpPr/>
          <p:nvPr/>
        </p:nvSpPr>
        <p:spPr>
          <a:xfrm>
            <a:off x="320040" y="985520"/>
            <a:ext cx="11536680" cy="5730240"/>
          </a:xfrm>
          <a:prstGeom prst="rect">
            <a:avLst/>
          </a:prstGeom>
          <a:solidFill>
            <a:srgbClr val="CFE0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50CA8-49BE-42C1-BDD8-6E2B82B70289}"/>
              </a:ext>
            </a:extLst>
          </p:cNvPr>
          <p:cNvGrpSpPr/>
          <p:nvPr/>
        </p:nvGrpSpPr>
        <p:grpSpPr>
          <a:xfrm>
            <a:off x="0" y="-7230"/>
            <a:ext cx="12192000" cy="6865229"/>
            <a:chOff x="0" y="-7230"/>
            <a:chExt cx="12192000" cy="68652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DB475C4-BF4C-4B2A-96B0-CB546F2F9BAE}"/>
                </a:ext>
              </a:extLst>
            </p:cNvPr>
            <p:cNvSpPr/>
            <p:nvPr/>
          </p:nvSpPr>
          <p:spPr>
            <a:xfrm>
              <a:off x="0" y="-7230"/>
              <a:ext cx="12192000" cy="686522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0D0E52C-1DF9-49E7-A2B9-48EEE627B8E5}"/>
                </a:ext>
              </a:extLst>
            </p:cNvPr>
            <p:cNvGrpSpPr/>
            <p:nvPr/>
          </p:nvGrpSpPr>
          <p:grpSpPr>
            <a:xfrm>
              <a:off x="320040" y="254000"/>
              <a:ext cx="11536680" cy="6339630"/>
              <a:chOff x="320040" y="254000"/>
              <a:chExt cx="11536680" cy="633963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7A4162-D7C3-44F8-A4A6-D1BD16508DBB}"/>
                  </a:ext>
                </a:extLst>
              </p:cNvPr>
              <p:cNvSpPr/>
              <p:nvPr/>
            </p:nvSpPr>
            <p:spPr>
              <a:xfrm>
                <a:off x="320040" y="254000"/>
                <a:ext cx="11536680" cy="619760"/>
              </a:xfrm>
              <a:prstGeom prst="rect">
                <a:avLst/>
              </a:prstGeom>
              <a:solidFill>
                <a:srgbClr val="01949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Additive genetic variance for relative fitness from changes in allele frequency</a:t>
                </a: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1C8FDDA-4899-4CCD-9507-7749144193C0}"/>
                  </a:ext>
                </a:extLst>
              </p:cNvPr>
              <p:cNvGrpSpPr/>
              <p:nvPr/>
            </p:nvGrpSpPr>
            <p:grpSpPr>
              <a:xfrm>
                <a:off x="426720" y="1102359"/>
                <a:ext cx="4368800" cy="5491271"/>
                <a:chOff x="426720" y="1102359"/>
                <a:chExt cx="4368800" cy="5491271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61634EC9-F396-43C8-B4D6-EE057F7E5D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6720" y="1102359"/>
                      <a:ext cx="4368800" cy="208068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Rate of adaptation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</m:oMath>
                        </m:oMathPara>
                      </a14:m>
                      <a:endParaRPr lang="en-GB" sz="27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Additive genetic variance for relative fitness </a:t>
                      </a:r>
                    </a:p>
                    <a:p>
                      <a:pPr algn="ctr"/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2700" i="1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sz="2700" i="1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p:txBody>
                </p:sp>
              </mc:Choice>
              <mc:Fallback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61634EC9-F396-43C8-B4D6-EE057F7E5DA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720" y="1102359"/>
                      <a:ext cx="4368800" cy="208068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39" t="-4070" r="-1528" b="-9012"/>
                      </a:stretch>
                    </a:blipFill>
                    <a:ln w="190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98B710C-16A3-4988-8B9E-108EDC1706E2}"/>
                    </a:ext>
                  </a:extLst>
                </p:cNvPr>
                <p:cNvSpPr/>
                <p:nvPr/>
              </p:nvSpPr>
              <p:spPr>
                <a:xfrm>
                  <a:off x="426720" y="3294801"/>
                  <a:ext cx="4368800" cy="424180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Average effects for rel. fitness (</a:t>
                  </a:r>
                  <a:r>
                    <a:rPr lang="el-GR" sz="2400" b="1" dirty="0"/>
                    <a:t>α</a:t>
                  </a:r>
                  <a:r>
                    <a:rPr lang="en-GB" sz="2400" dirty="0"/>
                    <a:t>)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4DDFF1A-C66D-47CE-B8C8-B569237F6AD1}"/>
                    </a:ext>
                  </a:extLst>
                </p:cNvPr>
                <p:cNvSpPr/>
                <p:nvPr/>
              </p:nvSpPr>
              <p:spPr>
                <a:xfrm>
                  <a:off x="426720" y="3861221"/>
                  <a:ext cx="4368800" cy="424180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Genetic diversity/LD matrix (</a:t>
                  </a:r>
                  <a:r>
                    <a:rPr lang="en-GB" sz="2400" b="1" dirty="0"/>
                    <a:t>L</a:t>
                  </a:r>
                  <a:r>
                    <a:rPr lang="en-GB" sz="2400" dirty="0"/>
                    <a:t>)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6322B52-B452-46DB-8881-FC4C088C35CE}"/>
                    </a:ext>
                  </a:extLst>
                </p:cNvPr>
                <p:cNvSpPr/>
                <p:nvPr/>
              </p:nvSpPr>
              <p:spPr>
                <a:xfrm>
                  <a:off x="426720" y="4417481"/>
                  <a:ext cx="4368800" cy="733806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Expected allele frequency change due to selection (E(</a:t>
                  </a:r>
                  <a:r>
                    <a:rPr lang="el-GR" sz="2400" dirty="0"/>
                    <a:t>Δ</a:t>
                  </a:r>
                  <a:r>
                    <a:rPr lang="en-GB" sz="2400" b="1" dirty="0"/>
                    <a:t>p)</a:t>
                  </a:r>
                  <a:r>
                    <a:rPr lang="en-GB" sz="2400" dirty="0"/>
                    <a:t>)</a:t>
                  </a:r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60439A6E-881D-46F2-A25C-01934369E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5930" t="21514" r="8371" b="22300"/>
                <a:stretch/>
              </p:blipFill>
              <p:spPr>
                <a:xfrm>
                  <a:off x="426720" y="5292729"/>
                  <a:ext cx="4368800" cy="1300901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</p:pic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AB8E707F-23CD-4F46-9611-77F24715016D}"/>
                  </a:ext>
                </a:extLst>
              </p:cNvPr>
              <p:cNvGrpSpPr/>
              <p:nvPr/>
            </p:nvGrpSpPr>
            <p:grpSpPr>
              <a:xfrm>
                <a:off x="4902200" y="1094579"/>
                <a:ext cx="6832600" cy="2350856"/>
                <a:chOff x="4968240" y="1094579"/>
                <a:chExt cx="6705600" cy="2233032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840F8C4-2978-4D13-97F1-489676CA4955}"/>
                    </a:ext>
                  </a:extLst>
                </p:cNvPr>
                <p:cNvSpPr/>
                <p:nvPr/>
              </p:nvSpPr>
              <p:spPr>
                <a:xfrm>
                  <a:off x="4968240" y="1102359"/>
                  <a:ext cx="6705600" cy="22252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77D55F8-6127-475C-BAE1-D836141722BB}"/>
                    </a:ext>
                  </a:extLst>
                </p:cNvPr>
                <p:cNvSpPr/>
                <p:nvPr/>
              </p:nvSpPr>
              <p:spPr>
                <a:xfrm>
                  <a:off x="5589270" y="1157304"/>
                  <a:ext cx="822960" cy="336216"/>
                </a:xfrm>
                <a:prstGeom prst="rect">
                  <a:avLst/>
                </a:prstGeom>
                <a:solidFill>
                  <a:srgbClr val="0163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Gen = 0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3B9E66D-89D5-4488-846F-176A0F5194CF}"/>
                    </a:ext>
                  </a:extLst>
                </p:cNvPr>
                <p:cNvSpPr/>
                <p:nvPr/>
              </p:nvSpPr>
              <p:spPr>
                <a:xfrm>
                  <a:off x="7726680" y="1157304"/>
                  <a:ext cx="970280" cy="336216"/>
                </a:xfrm>
                <a:prstGeom prst="rect">
                  <a:avLst/>
                </a:prstGeom>
                <a:solidFill>
                  <a:srgbClr val="0163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Gen = </a:t>
                  </a:r>
                  <a:r>
                    <a:rPr lang="en-GB" dirty="0"/>
                    <a:t>t</a:t>
                  </a:r>
                  <a:endParaRPr lang="en-GB" sz="1600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94C9A6F-05FC-482E-BE4D-A1B979BA4773}"/>
                    </a:ext>
                  </a:extLst>
                </p:cNvPr>
                <p:cNvSpPr/>
                <p:nvPr/>
              </p:nvSpPr>
              <p:spPr>
                <a:xfrm>
                  <a:off x="10269031" y="1157304"/>
                  <a:ext cx="970280" cy="336216"/>
                </a:xfrm>
                <a:prstGeom prst="rect">
                  <a:avLst/>
                </a:prstGeom>
                <a:solidFill>
                  <a:srgbClr val="0163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Gen = </a:t>
                  </a:r>
                  <a:r>
                    <a:rPr lang="el-GR" dirty="0"/>
                    <a:t>τ</a:t>
                  </a:r>
                  <a:endParaRPr lang="en-GB" sz="1600" dirty="0"/>
                </a:p>
              </p:txBody>
            </p:sp>
            <p:sp>
              <p:nvSpPr>
                <p:cNvPr id="34" name="Cloud 33">
                  <a:extLst>
                    <a:ext uri="{FF2B5EF4-FFF2-40B4-BE49-F238E27FC236}">
                      <a16:creationId xmlns:a16="http://schemas.microsoft.com/office/drawing/2014/main" id="{99CFDC43-686E-4A8B-920E-F9F148E94A18}"/>
                    </a:ext>
                  </a:extLst>
                </p:cNvPr>
                <p:cNvSpPr/>
                <p:nvPr/>
              </p:nvSpPr>
              <p:spPr>
                <a:xfrm>
                  <a:off x="5039360" y="1836489"/>
                  <a:ext cx="1869440" cy="933017"/>
                </a:xfrm>
                <a:prstGeom prst="cloud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Base population</a:t>
                  </a:r>
                </a:p>
              </p:txBody>
            </p: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9FC01411-F269-440A-A45D-240FB91A47C5}"/>
                    </a:ext>
                  </a:extLst>
                </p:cNvPr>
                <p:cNvGrpSpPr/>
                <p:nvPr/>
              </p:nvGrpSpPr>
              <p:grpSpPr>
                <a:xfrm>
                  <a:off x="7725132" y="1584626"/>
                  <a:ext cx="970280" cy="1675955"/>
                  <a:chOff x="7725132" y="1584626"/>
                  <a:chExt cx="970280" cy="1675955"/>
                </a:xfrm>
              </p:grpSpPr>
              <p:sp>
                <p:nvSpPr>
                  <p:cNvPr id="35" name="Cloud 34">
                    <a:extLst>
                      <a:ext uri="{FF2B5EF4-FFF2-40B4-BE49-F238E27FC236}">
                        <a16:creationId xmlns:a16="http://schemas.microsoft.com/office/drawing/2014/main" id="{95BF2776-FE2A-4346-BAEE-7A64C50EED4D}"/>
                      </a:ext>
                    </a:extLst>
                  </p:cNvPr>
                  <p:cNvSpPr/>
                  <p:nvPr/>
                </p:nvSpPr>
                <p:spPr>
                  <a:xfrm>
                    <a:off x="7725132" y="1584626"/>
                    <a:ext cx="970280" cy="33605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rep1</a:t>
                    </a:r>
                  </a:p>
                </p:txBody>
              </p:sp>
              <p:sp>
                <p:nvSpPr>
                  <p:cNvPr id="36" name="Cloud 35">
                    <a:extLst>
                      <a:ext uri="{FF2B5EF4-FFF2-40B4-BE49-F238E27FC236}">
                        <a16:creationId xmlns:a16="http://schemas.microsoft.com/office/drawing/2014/main" id="{1854AF74-4071-45E8-8F98-D68262A18575}"/>
                      </a:ext>
                    </a:extLst>
                  </p:cNvPr>
                  <p:cNvSpPr/>
                  <p:nvPr/>
                </p:nvSpPr>
                <p:spPr>
                  <a:xfrm>
                    <a:off x="7725132" y="2012331"/>
                    <a:ext cx="970280" cy="37669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rep2</a:t>
                    </a:r>
                  </a:p>
                </p:txBody>
              </p:sp>
              <p:sp>
                <p:nvSpPr>
                  <p:cNvPr id="37" name="Cloud 36">
                    <a:extLst>
                      <a:ext uri="{FF2B5EF4-FFF2-40B4-BE49-F238E27FC236}">
                        <a16:creationId xmlns:a16="http://schemas.microsoft.com/office/drawing/2014/main" id="{3BF344C0-4C71-47E7-80B4-406EC3498CA2}"/>
                      </a:ext>
                    </a:extLst>
                  </p:cNvPr>
                  <p:cNvSpPr/>
                  <p:nvPr/>
                </p:nvSpPr>
                <p:spPr>
                  <a:xfrm>
                    <a:off x="7725132" y="2439282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rep3</a:t>
                    </a:r>
                  </a:p>
                </p:txBody>
              </p:sp>
              <p:sp>
                <p:nvSpPr>
                  <p:cNvPr id="38" name="Cloud 37">
                    <a:extLst>
                      <a:ext uri="{FF2B5EF4-FFF2-40B4-BE49-F238E27FC236}">
                        <a16:creationId xmlns:a16="http://schemas.microsoft.com/office/drawing/2014/main" id="{5DA5FA57-AAAB-436E-B313-6A8EF253D8E4}"/>
                      </a:ext>
                    </a:extLst>
                  </p:cNvPr>
                  <p:cNvSpPr/>
                  <p:nvPr/>
                </p:nvSpPr>
                <p:spPr>
                  <a:xfrm>
                    <a:off x="7725132" y="2872848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rep4</a:t>
                    </a:r>
                    <a:endParaRPr lang="en-GB" sz="1500" i="1" dirty="0"/>
                  </a:p>
                </p:txBody>
              </p: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ED7776F1-C464-43BA-AA22-784DEFF6D285}"/>
                    </a:ext>
                  </a:extLst>
                </p:cNvPr>
                <p:cNvGrpSpPr/>
                <p:nvPr/>
              </p:nvGrpSpPr>
              <p:grpSpPr>
                <a:xfrm>
                  <a:off x="10259060" y="1572588"/>
                  <a:ext cx="970280" cy="1675955"/>
                  <a:chOff x="7725132" y="1584626"/>
                  <a:chExt cx="970280" cy="1675955"/>
                </a:xfrm>
              </p:grpSpPr>
              <p:sp>
                <p:nvSpPr>
                  <p:cNvPr id="41" name="Cloud 40">
                    <a:extLst>
                      <a:ext uri="{FF2B5EF4-FFF2-40B4-BE49-F238E27FC236}">
                        <a16:creationId xmlns:a16="http://schemas.microsoft.com/office/drawing/2014/main" id="{48331A74-FDF9-4829-9CDF-35A67C32B4AA}"/>
                      </a:ext>
                    </a:extLst>
                  </p:cNvPr>
                  <p:cNvSpPr/>
                  <p:nvPr/>
                </p:nvSpPr>
                <p:spPr>
                  <a:xfrm>
                    <a:off x="7725132" y="1584626"/>
                    <a:ext cx="970280" cy="33605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rep1</a:t>
                    </a:r>
                  </a:p>
                </p:txBody>
              </p:sp>
              <p:sp>
                <p:nvSpPr>
                  <p:cNvPr id="42" name="Cloud 41">
                    <a:extLst>
                      <a:ext uri="{FF2B5EF4-FFF2-40B4-BE49-F238E27FC236}">
                        <a16:creationId xmlns:a16="http://schemas.microsoft.com/office/drawing/2014/main" id="{E03AA5B6-EF19-4331-909D-6F3A05463ECA}"/>
                      </a:ext>
                    </a:extLst>
                  </p:cNvPr>
                  <p:cNvSpPr/>
                  <p:nvPr/>
                </p:nvSpPr>
                <p:spPr>
                  <a:xfrm>
                    <a:off x="7725132" y="2012331"/>
                    <a:ext cx="970280" cy="37669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rep2</a:t>
                    </a:r>
                  </a:p>
                </p:txBody>
              </p:sp>
              <p:sp>
                <p:nvSpPr>
                  <p:cNvPr id="43" name="Cloud 42">
                    <a:extLst>
                      <a:ext uri="{FF2B5EF4-FFF2-40B4-BE49-F238E27FC236}">
                        <a16:creationId xmlns:a16="http://schemas.microsoft.com/office/drawing/2014/main" id="{12AD63E9-6F84-42B0-A45C-107BCC6106F7}"/>
                      </a:ext>
                    </a:extLst>
                  </p:cNvPr>
                  <p:cNvSpPr/>
                  <p:nvPr/>
                </p:nvSpPr>
                <p:spPr>
                  <a:xfrm>
                    <a:off x="7725132" y="2439282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rep3</a:t>
                    </a:r>
                  </a:p>
                </p:txBody>
              </p:sp>
              <p:sp>
                <p:nvSpPr>
                  <p:cNvPr id="44" name="Cloud 43">
                    <a:extLst>
                      <a:ext uri="{FF2B5EF4-FFF2-40B4-BE49-F238E27FC236}">
                        <a16:creationId xmlns:a16="http://schemas.microsoft.com/office/drawing/2014/main" id="{F3E9095F-E7CD-4C46-B0DD-9B91113DFA8D}"/>
                      </a:ext>
                    </a:extLst>
                  </p:cNvPr>
                  <p:cNvSpPr/>
                  <p:nvPr/>
                </p:nvSpPr>
                <p:spPr>
                  <a:xfrm>
                    <a:off x="7725132" y="2872848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rep4</a:t>
                    </a:r>
                  </a:p>
                </p:txBody>
              </p:sp>
            </p:grp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CB86A233-ECF5-4757-9333-1857718BE1DE}"/>
                    </a:ext>
                  </a:extLst>
                </p:cNvPr>
                <p:cNvCxnSpPr>
                  <a:cxnSpLocks/>
                  <a:endCxn id="35" idx="2"/>
                </p:cNvCxnSpPr>
                <p:nvPr/>
              </p:nvCxnSpPr>
              <p:spPr>
                <a:xfrm flipV="1">
                  <a:off x="6908800" y="1752654"/>
                  <a:ext cx="819342" cy="540644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D06BDD8D-C58E-48DA-8938-B28ADC7B85A4}"/>
                    </a:ext>
                  </a:extLst>
                </p:cNvPr>
                <p:cNvCxnSpPr>
                  <a:cxnSpLocks/>
                  <a:endCxn id="36" idx="2"/>
                </p:cNvCxnSpPr>
                <p:nvPr/>
              </p:nvCxnSpPr>
              <p:spPr>
                <a:xfrm flipV="1">
                  <a:off x="6908800" y="2200679"/>
                  <a:ext cx="819342" cy="102424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D9798715-8E82-4989-9860-3A9C2E0E02BE}"/>
                    </a:ext>
                  </a:extLst>
                </p:cNvPr>
                <p:cNvCxnSpPr>
                  <a:cxnSpLocks/>
                  <a:endCxn id="37" idx="2"/>
                </p:cNvCxnSpPr>
                <p:nvPr/>
              </p:nvCxnSpPr>
              <p:spPr>
                <a:xfrm>
                  <a:off x="6887623" y="2305385"/>
                  <a:ext cx="840519" cy="327764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3624613E-5D09-45C9-9F73-661CBF6D32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8800" y="2305385"/>
                  <a:ext cx="914400" cy="66689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BE332944-178E-4965-A097-7D19CE1244AF}"/>
                    </a:ext>
                  </a:extLst>
                </p:cNvPr>
                <p:cNvCxnSpPr>
                  <a:cxnSpLocks/>
                  <a:endCxn id="41" idx="2"/>
                </p:cNvCxnSpPr>
                <p:nvPr/>
              </p:nvCxnSpPr>
              <p:spPr>
                <a:xfrm flipV="1">
                  <a:off x="8695412" y="1740616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97907940-DC28-43CF-830B-E32E71B62C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09617" y="2198106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EC7262FD-7594-471C-ABB0-F13B6BA640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92402" y="2625906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A343A59A-DCC6-4480-AD28-BDCA947A56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09617" y="3051857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17BE429-B88A-4A9C-8D99-6B0A9A988761}"/>
                    </a:ext>
                  </a:extLst>
                </p:cNvPr>
                <p:cNvSpPr txBox="1"/>
                <p:nvPr/>
              </p:nvSpPr>
              <p:spPr>
                <a:xfrm>
                  <a:off x="9182270" y="1094579"/>
                  <a:ext cx="5229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2400" dirty="0"/>
                    <a:t>Δ</a:t>
                  </a:r>
                  <a:r>
                    <a:rPr lang="en-GB" sz="2400" b="1" dirty="0"/>
                    <a:t>p</a:t>
                  </a:r>
                  <a:endParaRPr lang="en-GB" b="1" dirty="0"/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504285B9-FC1D-48D6-88C7-E66B64C878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09811" y="1345732"/>
                  <a:ext cx="668624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D77C0B99-D805-4D9A-A907-7926E70E0B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92402" y="1345732"/>
                  <a:ext cx="521539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CBFAC49-901B-4B7C-ACDB-1DB3110ABFB1}"/>
                    </a:ext>
                  </a:extLst>
                </p:cNvPr>
                <p:cNvSpPr txBox="1"/>
                <p:nvPr/>
              </p:nvSpPr>
              <p:spPr>
                <a:xfrm>
                  <a:off x="5288324" y="2810667"/>
                  <a:ext cx="130882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000" dirty="0"/>
                    <a:t>Compute </a:t>
                  </a:r>
                  <a:r>
                    <a:rPr lang="en-GB" sz="2000" b="1" dirty="0"/>
                    <a:t>L</a:t>
                  </a:r>
                  <a:endParaRPr lang="en-GB" sz="2000" dirty="0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41E24E50-3FAB-42FC-913E-864BCC6AB2A2}"/>
                  </a:ext>
                </a:extLst>
              </p:cNvPr>
              <p:cNvGrpSpPr/>
              <p:nvPr/>
            </p:nvGrpSpPr>
            <p:grpSpPr>
              <a:xfrm>
                <a:off x="4902200" y="3553116"/>
                <a:ext cx="6823681" cy="3040514"/>
                <a:chOff x="4902200" y="3553116"/>
                <a:chExt cx="6823681" cy="3040514"/>
              </a:xfrm>
            </p:grpSpPr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9AF88C3F-B65B-4BFB-A2D5-8C6AAE0920EF}"/>
                    </a:ext>
                  </a:extLst>
                </p:cNvPr>
                <p:cNvSpPr/>
                <p:nvPr/>
              </p:nvSpPr>
              <p:spPr>
                <a:xfrm>
                  <a:off x="4902200" y="3553116"/>
                  <a:ext cx="6823681" cy="304051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7845255B-056B-4349-AB3D-0BDE341B43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8486" t="5603" r="5324" b="28414"/>
                <a:stretch/>
              </p:blipFill>
              <p:spPr>
                <a:xfrm>
                  <a:off x="5176520" y="3620368"/>
                  <a:ext cx="6184344" cy="1409011"/>
                </a:xfrm>
                <a:prstGeom prst="rect">
                  <a:avLst/>
                </a:prstGeom>
              </p:spPr>
            </p:pic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A815701-CD7D-4A36-93EF-4FB107E3497B}"/>
                    </a:ext>
                  </a:extLst>
                </p:cNvPr>
                <p:cNvSpPr/>
                <p:nvPr/>
              </p:nvSpPr>
              <p:spPr>
                <a:xfrm>
                  <a:off x="4903547" y="5029379"/>
                  <a:ext cx="6822334" cy="483471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Linear mixed model (random locus effects)</a:t>
                  </a:r>
                </a:p>
              </p:txBody>
            </p:sp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760EAC3A-0A8D-4CD2-A540-7B0716878B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3040" y="5650107"/>
                  <a:ext cx="6184345" cy="913043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88E587-C5FF-410B-A7AD-DA447647B244}"/>
              </a:ext>
            </a:extLst>
          </p:cNvPr>
          <p:cNvGrpSpPr/>
          <p:nvPr/>
        </p:nvGrpSpPr>
        <p:grpSpPr>
          <a:xfrm>
            <a:off x="0" y="-7229"/>
            <a:ext cx="12192000" cy="6865229"/>
            <a:chOff x="0" y="-7230"/>
            <a:chExt cx="12192000" cy="686522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4E305D1-59AE-49AD-9049-DF50029F302A}"/>
                </a:ext>
              </a:extLst>
            </p:cNvPr>
            <p:cNvSpPr/>
            <p:nvPr/>
          </p:nvSpPr>
          <p:spPr>
            <a:xfrm>
              <a:off x="0" y="-7230"/>
              <a:ext cx="12192000" cy="686522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304FE86-FAFB-4DF4-B52A-640DBBDDDAA2}"/>
                </a:ext>
              </a:extLst>
            </p:cNvPr>
            <p:cNvGrpSpPr/>
            <p:nvPr/>
          </p:nvGrpSpPr>
          <p:grpSpPr>
            <a:xfrm>
              <a:off x="256540" y="276154"/>
              <a:ext cx="11678920" cy="6317476"/>
              <a:chOff x="256540" y="276154"/>
              <a:chExt cx="11678920" cy="6317476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62DE125-0CC1-4D9C-8DBA-45CAF35355CE}"/>
                  </a:ext>
                </a:extLst>
              </p:cNvPr>
              <p:cNvSpPr/>
              <p:nvPr/>
            </p:nvSpPr>
            <p:spPr>
              <a:xfrm>
                <a:off x="256540" y="276154"/>
                <a:ext cx="11678920" cy="652019"/>
              </a:xfrm>
              <a:prstGeom prst="rect">
                <a:avLst/>
              </a:prstGeom>
              <a:solidFill>
                <a:srgbClr val="01949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/>
                  <a:t>Additive genetic variance for relative fitness from changes in allele frequency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096B808-84B6-43ED-B282-4C4C039B48CB}"/>
                  </a:ext>
                </a:extLst>
              </p:cNvPr>
              <p:cNvGrpSpPr/>
              <p:nvPr/>
            </p:nvGrpSpPr>
            <p:grpSpPr>
              <a:xfrm>
                <a:off x="426720" y="1102359"/>
                <a:ext cx="4368800" cy="5491271"/>
                <a:chOff x="426720" y="1102359"/>
                <a:chExt cx="4368800" cy="5491271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9" name="Rectangle 98">
                      <a:extLst>
                        <a:ext uri="{FF2B5EF4-FFF2-40B4-BE49-F238E27FC236}">
                          <a16:creationId xmlns:a16="http://schemas.microsoft.com/office/drawing/2014/main" id="{E6EB1DDE-3761-4DDE-9079-31051E2AE4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6720" y="1102359"/>
                      <a:ext cx="4368800" cy="208068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Rate of adaptation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</m:oMath>
                        </m:oMathPara>
                      </a14:m>
                      <a:endParaRPr lang="en-GB" sz="27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Additive genetic variance for relative fitness </a:t>
                      </a:r>
                    </a:p>
                    <a:p>
                      <a:pPr algn="ctr"/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2700" i="1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sz="2700" i="1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7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p:txBody>
                </p:sp>
              </mc:Choice>
              <mc:Fallback>
                <p:sp>
                  <p:nvSpPr>
                    <p:cNvPr id="99" name="Rectangle 98">
                      <a:extLst>
                        <a:ext uri="{FF2B5EF4-FFF2-40B4-BE49-F238E27FC236}">
                          <a16:creationId xmlns:a16="http://schemas.microsoft.com/office/drawing/2014/main" id="{E6EB1DDE-3761-4DDE-9079-31051E2AE4C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720" y="1102359"/>
                      <a:ext cx="4368800" cy="208068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39" t="-4070" r="-1528" b="-9012"/>
                      </a:stretch>
                    </a:blipFill>
                    <a:ln w="190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05ED5C71-A609-43EA-B4AB-CA73166FF0E0}"/>
                    </a:ext>
                  </a:extLst>
                </p:cNvPr>
                <p:cNvSpPr/>
                <p:nvPr/>
              </p:nvSpPr>
              <p:spPr>
                <a:xfrm>
                  <a:off x="426720" y="3294801"/>
                  <a:ext cx="4368800" cy="424180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Average effects for rel. fitness (</a:t>
                  </a:r>
                  <a:r>
                    <a:rPr lang="el-GR" sz="2400" b="1" dirty="0"/>
                    <a:t>α</a:t>
                  </a:r>
                  <a:r>
                    <a:rPr lang="en-GB" sz="2400" dirty="0"/>
                    <a:t>)</a:t>
                  </a: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80EFC149-63C3-4935-833B-203B7B4612B6}"/>
                    </a:ext>
                  </a:extLst>
                </p:cNvPr>
                <p:cNvSpPr/>
                <p:nvPr/>
              </p:nvSpPr>
              <p:spPr>
                <a:xfrm>
                  <a:off x="426720" y="3861221"/>
                  <a:ext cx="4368800" cy="424180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Genetic diversity/LD matrix (</a:t>
                  </a:r>
                  <a:r>
                    <a:rPr lang="en-GB" sz="2400" b="1" dirty="0"/>
                    <a:t>L</a:t>
                  </a:r>
                  <a:r>
                    <a:rPr lang="en-GB" sz="2400" dirty="0"/>
                    <a:t>)</a:t>
                  </a: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66ED4C2A-38A0-4FC1-9BD3-826316448F1A}"/>
                    </a:ext>
                  </a:extLst>
                </p:cNvPr>
                <p:cNvSpPr/>
                <p:nvPr/>
              </p:nvSpPr>
              <p:spPr>
                <a:xfrm>
                  <a:off x="426720" y="4417481"/>
                  <a:ext cx="4368800" cy="733806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Expected allele frequency change due to selection (E(</a:t>
                  </a:r>
                  <a:r>
                    <a:rPr lang="el-GR" sz="2400" dirty="0"/>
                    <a:t>Δ</a:t>
                  </a:r>
                  <a:r>
                    <a:rPr lang="en-GB" sz="2400" b="1" dirty="0"/>
                    <a:t>p</a:t>
                  </a:r>
                  <a:r>
                    <a:rPr lang="en-GB" sz="2400" dirty="0"/>
                    <a:t>))</a:t>
                  </a:r>
                </a:p>
              </p:txBody>
            </p:sp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AB7669A7-7C2D-4A7A-9FF3-ACE3EE577C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5930" t="21514" r="8371" b="22300"/>
                <a:stretch/>
              </p:blipFill>
              <p:spPr>
                <a:xfrm>
                  <a:off x="426720" y="5292729"/>
                  <a:ext cx="4368800" cy="1300901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</p:pic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19F012D-9192-44CC-8592-3B6A15445C0C}"/>
                  </a:ext>
                </a:extLst>
              </p:cNvPr>
              <p:cNvGrpSpPr/>
              <p:nvPr/>
            </p:nvGrpSpPr>
            <p:grpSpPr>
              <a:xfrm>
                <a:off x="4902200" y="1094579"/>
                <a:ext cx="6832600" cy="2350856"/>
                <a:chOff x="4968240" y="1094579"/>
                <a:chExt cx="6705600" cy="2233032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439C7777-AD64-4C0E-96EF-7A1A181550F1}"/>
                    </a:ext>
                  </a:extLst>
                </p:cNvPr>
                <p:cNvSpPr/>
                <p:nvPr/>
              </p:nvSpPr>
              <p:spPr>
                <a:xfrm>
                  <a:off x="4968240" y="1102359"/>
                  <a:ext cx="6705600" cy="22252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22DF9859-0F41-4C9B-9E75-E2D51DBEC3A6}"/>
                    </a:ext>
                  </a:extLst>
                </p:cNvPr>
                <p:cNvSpPr/>
                <p:nvPr/>
              </p:nvSpPr>
              <p:spPr>
                <a:xfrm>
                  <a:off x="5589270" y="1157304"/>
                  <a:ext cx="822960" cy="336216"/>
                </a:xfrm>
                <a:prstGeom prst="rect">
                  <a:avLst/>
                </a:prstGeom>
                <a:solidFill>
                  <a:srgbClr val="0163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Gen = 0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153584D-D193-48D3-831C-B3DA8FDB6887}"/>
                    </a:ext>
                  </a:extLst>
                </p:cNvPr>
                <p:cNvSpPr/>
                <p:nvPr/>
              </p:nvSpPr>
              <p:spPr>
                <a:xfrm>
                  <a:off x="7726680" y="1157304"/>
                  <a:ext cx="970280" cy="336216"/>
                </a:xfrm>
                <a:prstGeom prst="rect">
                  <a:avLst/>
                </a:prstGeom>
                <a:solidFill>
                  <a:srgbClr val="0163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Gen = </a:t>
                  </a:r>
                  <a:r>
                    <a:rPr lang="en-GB" dirty="0"/>
                    <a:t>t</a:t>
                  </a:r>
                  <a:endParaRPr lang="en-GB" sz="1600" dirty="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09CBF2D2-F7FD-4E4F-A09A-D2D75A89F2DE}"/>
                    </a:ext>
                  </a:extLst>
                </p:cNvPr>
                <p:cNvSpPr/>
                <p:nvPr/>
              </p:nvSpPr>
              <p:spPr>
                <a:xfrm>
                  <a:off x="10269031" y="1157304"/>
                  <a:ext cx="970280" cy="336216"/>
                </a:xfrm>
                <a:prstGeom prst="rect">
                  <a:avLst/>
                </a:prstGeom>
                <a:solidFill>
                  <a:srgbClr val="0163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Gen = </a:t>
                  </a:r>
                  <a:r>
                    <a:rPr lang="el-GR" dirty="0"/>
                    <a:t>τ</a:t>
                  </a:r>
                  <a:endParaRPr lang="en-GB" sz="1600" dirty="0"/>
                </a:p>
              </p:txBody>
            </p:sp>
            <p:sp>
              <p:nvSpPr>
                <p:cNvPr id="71" name="Cloud 70">
                  <a:extLst>
                    <a:ext uri="{FF2B5EF4-FFF2-40B4-BE49-F238E27FC236}">
                      <a16:creationId xmlns:a16="http://schemas.microsoft.com/office/drawing/2014/main" id="{54C99D6D-28A3-4D05-B555-2F62D078E8E2}"/>
                    </a:ext>
                  </a:extLst>
                </p:cNvPr>
                <p:cNvSpPr/>
                <p:nvPr/>
              </p:nvSpPr>
              <p:spPr>
                <a:xfrm>
                  <a:off x="5039360" y="1836489"/>
                  <a:ext cx="1869440" cy="933017"/>
                </a:xfrm>
                <a:prstGeom prst="cloud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Base population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84B737D0-F325-4C5F-BC0A-96EEF4CFBB2A}"/>
                    </a:ext>
                  </a:extLst>
                </p:cNvPr>
                <p:cNvGrpSpPr/>
                <p:nvPr/>
              </p:nvGrpSpPr>
              <p:grpSpPr>
                <a:xfrm>
                  <a:off x="7725132" y="1584626"/>
                  <a:ext cx="970280" cy="1675955"/>
                  <a:chOff x="7725132" y="1584626"/>
                  <a:chExt cx="970280" cy="1675955"/>
                </a:xfrm>
              </p:grpSpPr>
              <p:sp>
                <p:nvSpPr>
                  <p:cNvPr id="95" name="Cloud 94">
                    <a:extLst>
                      <a:ext uri="{FF2B5EF4-FFF2-40B4-BE49-F238E27FC236}">
                        <a16:creationId xmlns:a16="http://schemas.microsoft.com/office/drawing/2014/main" id="{E34512C8-F254-41C8-BC0E-07083BB29993}"/>
                      </a:ext>
                    </a:extLst>
                  </p:cNvPr>
                  <p:cNvSpPr/>
                  <p:nvPr/>
                </p:nvSpPr>
                <p:spPr>
                  <a:xfrm>
                    <a:off x="7725132" y="1584626"/>
                    <a:ext cx="970280" cy="33605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rep1</a:t>
                    </a:r>
                  </a:p>
                </p:txBody>
              </p:sp>
              <p:sp>
                <p:nvSpPr>
                  <p:cNvPr id="96" name="Cloud 95">
                    <a:extLst>
                      <a:ext uri="{FF2B5EF4-FFF2-40B4-BE49-F238E27FC236}">
                        <a16:creationId xmlns:a16="http://schemas.microsoft.com/office/drawing/2014/main" id="{9D08C033-79DE-4AF2-B63F-C6E96B30DEBF}"/>
                      </a:ext>
                    </a:extLst>
                  </p:cNvPr>
                  <p:cNvSpPr/>
                  <p:nvPr/>
                </p:nvSpPr>
                <p:spPr>
                  <a:xfrm>
                    <a:off x="7725132" y="2012331"/>
                    <a:ext cx="970280" cy="37669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rep2</a:t>
                    </a:r>
                  </a:p>
                </p:txBody>
              </p:sp>
              <p:sp>
                <p:nvSpPr>
                  <p:cNvPr id="97" name="Cloud 96">
                    <a:extLst>
                      <a:ext uri="{FF2B5EF4-FFF2-40B4-BE49-F238E27FC236}">
                        <a16:creationId xmlns:a16="http://schemas.microsoft.com/office/drawing/2014/main" id="{A952E816-5F9E-4398-BC03-7F7082EA7F71}"/>
                      </a:ext>
                    </a:extLst>
                  </p:cNvPr>
                  <p:cNvSpPr/>
                  <p:nvPr/>
                </p:nvSpPr>
                <p:spPr>
                  <a:xfrm>
                    <a:off x="7725132" y="2439282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rep3</a:t>
                    </a:r>
                  </a:p>
                </p:txBody>
              </p:sp>
              <p:sp>
                <p:nvSpPr>
                  <p:cNvPr id="98" name="Cloud 97">
                    <a:extLst>
                      <a:ext uri="{FF2B5EF4-FFF2-40B4-BE49-F238E27FC236}">
                        <a16:creationId xmlns:a16="http://schemas.microsoft.com/office/drawing/2014/main" id="{68D7312C-0D27-4F21-B256-4C5DDB8A23FA}"/>
                      </a:ext>
                    </a:extLst>
                  </p:cNvPr>
                  <p:cNvSpPr/>
                  <p:nvPr/>
                </p:nvSpPr>
                <p:spPr>
                  <a:xfrm>
                    <a:off x="7725132" y="2872848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rep4</a:t>
                    </a:r>
                    <a:endParaRPr lang="en-GB" sz="1500" i="1" dirty="0"/>
                  </a:p>
                </p:txBody>
              </p:sp>
            </p:grpSp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029884D2-8B5F-4AFB-B6DF-53E8A31EB8DA}"/>
                    </a:ext>
                  </a:extLst>
                </p:cNvPr>
                <p:cNvGrpSpPr/>
                <p:nvPr/>
              </p:nvGrpSpPr>
              <p:grpSpPr>
                <a:xfrm>
                  <a:off x="10259060" y="1572588"/>
                  <a:ext cx="970280" cy="1675955"/>
                  <a:chOff x="7725132" y="1584626"/>
                  <a:chExt cx="970280" cy="1675955"/>
                </a:xfrm>
              </p:grpSpPr>
              <p:sp>
                <p:nvSpPr>
                  <p:cNvPr id="91" name="Cloud 90">
                    <a:extLst>
                      <a:ext uri="{FF2B5EF4-FFF2-40B4-BE49-F238E27FC236}">
                        <a16:creationId xmlns:a16="http://schemas.microsoft.com/office/drawing/2014/main" id="{DFA57662-E7E8-4EBF-866B-E5643EB0095C}"/>
                      </a:ext>
                    </a:extLst>
                  </p:cNvPr>
                  <p:cNvSpPr/>
                  <p:nvPr/>
                </p:nvSpPr>
                <p:spPr>
                  <a:xfrm>
                    <a:off x="7725132" y="1584626"/>
                    <a:ext cx="970280" cy="33605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rep1</a:t>
                    </a:r>
                  </a:p>
                </p:txBody>
              </p:sp>
              <p:sp>
                <p:nvSpPr>
                  <p:cNvPr id="92" name="Cloud 91">
                    <a:extLst>
                      <a:ext uri="{FF2B5EF4-FFF2-40B4-BE49-F238E27FC236}">
                        <a16:creationId xmlns:a16="http://schemas.microsoft.com/office/drawing/2014/main" id="{1DBD3972-F8A4-4788-A06F-3B0B2394E1BF}"/>
                      </a:ext>
                    </a:extLst>
                  </p:cNvPr>
                  <p:cNvSpPr/>
                  <p:nvPr/>
                </p:nvSpPr>
                <p:spPr>
                  <a:xfrm>
                    <a:off x="7725132" y="2012331"/>
                    <a:ext cx="970280" cy="376695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rep2</a:t>
                    </a:r>
                  </a:p>
                </p:txBody>
              </p:sp>
              <p:sp>
                <p:nvSpPr>
                  <p:cNvPr id="93" name="Cloud 92">
                    <a:extLst>
                      <a:ext uri="{FF2B5EF4-FFF2-40B4-BE49-F238E27FC236}">
                        <a16:creationId xmlns:a16="http://schemas.microsoft.com/office/drawing/2014/main" id="{57CA438C-93FB-4E73-9FDF-5D8F8002D050}"/>
                      </a:ext>
                    </a:extLst>
                  </p:cNvPr>
                  <p:cNvSpPr/>
                  <p:nvPr/>
                </p:nvSpPr>
                <p:spPr>
                  <a:xfrm>
                    <a:off x="7725132" y="2439282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rep3</a:t>
                    </a:r>
                  </a:p>
                </p:txBody>
              </p:sp>
              <p:sp>
                <p:nvSpPr>
                  <p:cNvPr id="94" name="Cloud 93">
                    <a:extLst>
                      <a:ext uri="{FF2B5EF4-FFF2-40B4-BE49-F238E27FC236}">
                        <a16:creationId xmlns:a16="http://schemas.microsoft.com/office/drawing/2014/main" id="{D088AEB3-DADF-4C17-B119-3E5B865FFB98}"/>
                      </a:ext>
                    </a:extLst>
                  </p:cNvPr>
                  <p:cNvSpPr/>
                  <p:nvPr/>
                </p:nvSpPr>
                <p:spPr>
                  <a:xfrm>
                    <a:off x="7725132" y="2872848"/>
                    <a:ext cx="970280" cy="387733"/>
                  </a:xfrm>
                  <a:prstGeom prst="cloud">
                    <a:avLst/>
                  </a:prstGeom>
                  <a:solidFill>
                    <a:srgbClr val="01949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500" dirty="0"/>
                      <a:t>rep4</a:t>
                    </a:r>
                  </a:p>
                </p:txBody>
              </p:sp>
            </p:grp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A3DF5C84-AC4C-4AA7-9BE6-732FCC5F5B78}"/>
                    </a:ext>
                  </a:extLst>
                </p:cNvPr>
                <p:cNvCxnSpPr>
                  <a:cxnSpLocks/>
                  <a:endCxn id="95" idx="2"/>
                </p:cNvCxnSpPr>
                <p:nvPr/>
              </p:nvCxnSpPr>
              <p:spPr>
                <a:xfrm flipV="1">
                  <a:off x="6908800" y="1752654"/>
                  <a:ext cx="819342" cy="540644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1832E54B-C605-4922-88C8-5870D10FACBF}"/>
                    </a:ext>
                  </a:extLst>
                </p:cNvPr>
                <p:cNvCxnSpPr>
                  <a:cxnSpLocks/>
                  <a:endCxn id="96" idx="2"/>
                </p:cNvCxnSpPr>
                <p:nvPr/>
              </p:nvCxnSpPr>
              <p:spPr>
                <a:xfrm flipV="1">
                  <a:off x="6908800" y="2200679"/>
                  <a:ext cx="819342" cy="102424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F922198E-4F62-402A-A88D-4BEB09581A46}"/>
                    </a:ext>
                  </a:extLst>
                </p:cNvPr>
                <p:cNvCxnSpPr>
                  <a:cxnSpLocks/>
                  <a:endCxn id="97" idx="2"/>
                </p:cNvCxnSpPr>
                <p:nvPr/>
              </p:nvCxnSpPr>
              <p:spPr>
                <a:xfrm>
                  <a:off x="6887623" y="2305385"/>
                  <a:ext cx="840519" cy="327764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07E5652E-AC99-40AB-BE6F-9CA2B2BAAE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8800" y="2305385"/>
                  <a:ext cx="914400" cy="666899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710BADDB-74C1-4713-9758-6E88FB2806C8}"/>
                    </a:ext>
                  </a:extLst>
                </p:cNvPr>
                <p:cNvCxnSpPr>
                  <a:cxnSpLocks/>
                  <a:endCxn id="91" idx="2"/>
                </p:cNvCxnSpPr>
                <p:nvPr/>
              </p:nvCxnSpPr>
              <p:spPr>
                <a:xfrm flipV="1">
                  <a:off x="8695412" y="1740616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63502753-AF11-4B89-93F1-9A5CAC55E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09617" y="2198106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28DB4BB9-B838-41C0-AD1E-466713ADE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92402" y="2625906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CB0E0593-169F-4FFE-A8D3-0A689C953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09617" y="3051857"/>
                  <a:ext cx="1566658" cy="2572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703DEB4-33B2-485E-9BCA-DF179BF06568}"/>
                    </a:ext>
                  </a:extLst>
                </p:cNvPr>
                <p:cNvSpPr txBox="1"/>
                <p:nvPr/>
              </p:nvSpPr>
              <p:spPr>
                <a:xfrm>
                  <a:off x="9182270" y="1094579"/>
                  <a:ext cx="5229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2400" dirty="0"/>
                    <a:t>Δ</a:t>
                  </a:r>
                  <a:r>
                    <a:rPr lang="en-GB" sz="2400" b="1" dirty="0"/>
                    <a:t>p</a:t>
                  </a:r>
                  <a:endParaRPr lang="en-GB" b="1" dirty="0"/>
                </a:p>
              </p:txBody>
            </p: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EADF5CEC-E1B9-402E-A931-4FFE386FB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65285" y="1345732"/>
                  <a:ext cx="573266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2775BF71-C4D4-48A0-BD14-6792FDE4C3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92402" y="1345732"/>
                  <a:ext cx="521539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52824D7-41C6-4FBD-A6E0-64547A8D49C3}"/>
                    </a:ext>
                  </a:extLst>
                </p:cNvPr>
                <p:cNvSpPr txBox="1"/>
                <p:nvPr/>
              </p:nvSpPr>
              <p:spPr>
                <a:xfrm>
                  <a:off x="5288324" y="2810667"/>
                  <a:ext cx="130882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000" dirty="0"/>
                    <a:t>Compute </a:t>
                  </a:r>
                  <a:r>
                    <a:rPr lang="en-GB" sz="2000" b="1" dirty="0"/>
                    <a:t>L</a:t>
                  </a:r>
                  <a:endParaRPr lang="en-GB" sz="2000" dirty="0"/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F5DA379F-579A-401E-8DD8-10EBAFF01826}"/>
                  </a:ext>
                </a:extLst>
              </p:cNvPr>
              <p:cNvGrpSpPr/>
              <p:nvPr/>
            </p:nvGrpSpPr>
            <p:grpSpPr>
              <a:xfrm>
                <a:off x="4902200" y="3553116"/>
                <a:ext cx="6823681" cy="3040514"/>
                <a:chOff x="4902200" y="3553116"/>
                <a:chExt cx="6823681" cy="3040514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1590A59-DD4C-46ED-AE8A-E48315711CAA}"/>
                    </a:ext>
                  </a:extLst>
                </p:cNvPr>
                <p:cNvSpPr/>
                <p:nvPr/>
              </p:nvSpPr>
              <p:spPr>
                <a:xfrm>
                  <a:off x="4902200" y="3553116"/>
                  <a:ext cx="6823681" cy="304051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F9846CAF-070E-432C-8186-F8BDECA0CA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8486" t="5603" r="5324" b="28414"/>
                <a:stretch/>
              </p:blipFill>
              <p:spPr>
                <a:xfrm>
                  <a:off x="5176520" y="3620368"/>
                  <a:ext cx="6184344" cy="1409011"/>
                </a:xfrm>
                <a:prstGeom prst="rect">
                  <a:avLst/>
                </a:prstGeom>
              </p:spPr>
            </p:pic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CC6D8D4-AC75-4077-A151-4BA57BD991FF}"/>
                    </a:ext>
                  </a:extLst>
                </p:cNvPr>
                <p:cNvSpPr/>
                <p:nvPr/>
              </p:nvSpPr>
              <p:spPr>
                <a:xfrm>
                  <a:off x="4903547" y="5029379"/>
                  <a:ext cx="6822334" cy="483471"/>
                </a:xfrm>
                <a:prstGeom prst="rect">
                  <a:avLst/>
                </a:prstGeom>
                <a:solidFill>
                  <a:srgbClr val="01949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Linear mixed model (random locus effects)</a:t>
                  </a:r>
                </a:p>
              </p:txBody>
            </p:sp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989A41F8-FF7B-45B4-862F-78AC12CB49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3040" y="5650107"/>
                  <a:ext cx="6184345" cy="913043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3680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170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Geeta Arun Samant</dc:creator>
  <cp:lastModifiedBy>Manas Geeta Arun Samant</cp:lastModifiedBy>
  <cp:revision>34</cp:revision>
  <dcterms:created xsi:type="dcterms:W3CDTF">2025-10-09T17:14:10Z</dcterms:created>
  <dcterms:modified xsi:type="dcterms:W3CDTF">2025-10-09T21:36:48Z</dcterms:modified>
</cp:coreProperties>
</file>